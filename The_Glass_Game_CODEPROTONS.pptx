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embeddedFontLst>
    <p:embeddedFont>
      <p:font typeface="Barlow" panose="00000500000000000000" pitchFamily="2" charset="0"/>
      <p:regular r:id="rId11"/>
      <p:bold r:id="rId12"/>
      <p:italic r:id="rId13"/>
      <p:boldItalic r:id="rId14"/>
    </p:embeddedFont>
    <p:embeddedFont>
      <p:font typeface="Bebas Neue" panose="020B0606020202050201" pitchFamily="34" charset="0"/>
      <p:regular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Rockwell" panose="02060603020205020403" pitchFamily="18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3A8D533F-5834-0EE0-FF07-0F76D37ED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409d7b2261c_13_105:notes">
            <a:extLst>
              <a:ext uri="{FF2B5EF4-FFF2-40B4-BE49-F238E27FC236}">
                <a16:creationId xmlns:a16="http://schemas.microsoft.com/office/drawing/2014/main" id="{85602B3C-C7BC-2235-7062-041330FBE7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409d7b2261c_13_105:notes">
            <a:extLst>
              <a:ext uri="{FF2B5EF4-FFF2-40B4-BE49-F238E27FC236}">
                <a16:creationId xmlns:a16="http://schemas.microsoft.com/office/drawing/2014/main" id="{0186E695-8FDA-38EA-BAB2-DF840146A1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2565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409d7b2261c_13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409d7b2261c_13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838200" y="13057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838200" y="25068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838200" y="12494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838200" y="12494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38200" y="12494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12494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ebas Neue"/>
              <a:buNone/>
              <a:defRPr sz="440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/>
              <a:buNone/>
              <a:defRPr sz="18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/>
              <a:buNone/>
              <a:defRPr sz="18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/>
              <a:buNone/>
              <a:defRPr sz="18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/>
              <a:buNone/>
              <a:defRPr sz="18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/>
              <a:buNone/>
              <a:defRPr sz="18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/>
              <a:buNone/>
              <a:defRPr sz="18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/>
              <a:buNone/>
              <a:defRPr sz="18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Bebas Neue"/>
              <a:buNone/>
              <a:defRPr sz="18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188" y="25068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Poppins"/>
              <a:buChar char="•"/>
              <a:defRPr sz="2800" i="0" u="none" strike="noStrike" cap="none"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Poppins"/>
              <a:buChar char="•"/>
              <a:defRPr sz="2400" i="0" u="none" strike="noStrike" cap="none"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Poppins"/>
              <a:buChar char="•"/>
              <a:defRPr sz="2000" i="0" u="none" strike="noStrike" cap="none"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oppins"/>
              <a:buChar char="•"/>
              <a:defRPr sz="1800" i="0" u="none" strike="noStrike" cap="none"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oppins"/>
              <a:buChar char="•"/>
              <a:defRPr sz="1800" i="0" u="none" strike="noStrike" cap="none"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oppins"/>
              <a:buChar char="•"/>
              <a:defRPr sz="1800" i="0" u="none" strike="noStrike" cap="none"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oppins"/>
              <a:buChar char="•"/>
              <a:defRPr sz="1800" i="0" u="none" strike="noStrike" cap="none"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oppins"/>
              <a:buChar char="•"/>
              <a:defRPr sz="1800" i="0" u="none" strike="noStrike" cap="none"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oppins"/>
              <a:buChar char="•"/>
              <a:defRPr sz="1800" i="0" u="none" strike="noStrike" cap="none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" title="i hackathon (3)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38200" y="401500"/>
            <a:ext cx="758250" cy="76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" title="i_hackathon-removebg-preview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339376" y="317500"/>
            <a:ext cx="2664498" cy="93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title="i_hackathon__1_-removebg-preview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784763" y="178600"/>
            <a:ext cx="2622535" cy="9319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1670375" y="2885645"/>
            <a:ext cx="9144000" cy="13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t>The Glass Game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1786057" y="4252445"/>
            <a:ext cx="8735568" cy="244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r>
              <a:rPr dirty="0">
                <a:solidFill>
                  <a:schemeClr val="tx1"/>
                </a:solidFill>
              </a:rPr>
              <a:t>THE GLASS BOX PROBLEM</a:t>
            </a:r>
          </a:p>
          <a:p>
            <a:r>
              <a:rPr dirty="0">
                <a:solidFill>
                  <a:schemeClr val="tx1"/>
                </a:solidFill>
              </a:rPr>
              <a:t>AI pipeline with full observability, </a:t>
            </a:r>
            <a:r>
              <a:rPr dirty="0" err="1">
                <a:solidFill>
                  <a:schemeClr val="tx1"/>
                </a:solidFill>
              </a:rPr>
              <a:t>replayability</a:t>
            </a:r>
            <a:r>
              <a:rPr dirty="0">
                <a:solidFill>
                  <a:schemeClr val="tx1"/>
                </a:solidFill>
              </a:rPr>
              <a:t>, and context engineering</a:t>
            </a:r>
          </a:p>
          <a:p>
            <a:r>
              <a:rPr dirty="0">
                <a:solidFill>
                  <a:schemeClr val="tx1"/>
                </a:solidFill>
              </a:rPr>
              <a:t>Team members:</a:t>
            </a:r>
            <a:endParaRPr lang="en-IN" dirty="0">
              <a:solidFill>
                <a:schemeClr val="tx1"/>
              </a:solidFill>
            </a:endParaRPr>
          </a:p>
          <a:p>
            <a:pPr marL="50800" indent="0">
              <a:buClr>
                <a:schemeClr val="tx1"/>
              </a:buClr>
            </a:pPr>
            <a:r>
              <a:rPr lang="en-IN" dirty="0" err="1">
                <a:solidFill>
                  <a:schemeClr val="tx1"/>
                </a:solidFill>
              </a:rPr>
              <a:t>Sabarri</a:t>
            </a:r>
            <a:r>
              <a:rPr lang="en-IN" dirty="0">
                <a:solidFill>
                  <a:schemeClr val="tx1"/>
                </a:solidFill>
              </a:rPr>
              <a:t> T.M. </a:t>
            </a:r>
          </a:p>
          <a:p>
            <a:pPr marL="50800" indent="0">
              <a:buClr>
                <a:schemeClr val="tx1"/>
              </a:buClr>
              <a:buSzPct val="80000"/>
            </a:pPr>
            <a:r>
              <a:rPr lang="en-IN" dirty="0">
                <a:solidFill>
                  <a:schemeClr val="tx1"/>
                </a:solidFill>
              </a:rPr>
              <a:t>Mannam Surya Pavan Kumar</a:t>
            </a:r>
          </a:p>
          <a:p>
            <a:pPr marL="50800" indent="0">
              <a:buClr>
                <a:schemeClr val="tx1"/>
              </a:buClr>
              <a:buSzPct val="80000"/>
            </a:pPr>
            <a:r>
              <a:rPr lang="en-IN" dirty="0">
                <a:solidFill>
                  <a:schemeClr val="tx1"/>
                </a:solidFill>
              </a:rPr>
              <a:t>Gutti Saiteja</a:t>
            </a:r>
          </a:p>
          <a:p>
            <a:pPr marL="50800" indent="0">
              <a:buClr>
                <a:schemeClr val="tx1"/>
              </a:buClr>
              <a:buSzPct val="80000"/>
            </a:pPr>
            <a:r>
              <a:rPr lang="en-IN" dirty="0">
                <a:solidFill>
                  <a:schemeClr val="tx1"/>
                </a:solidFill>
              </a:rPr>
              <a:t>Harish s</a:t>
            </a:r>
          </a:p>
        </p:txBody>
      </p:sp>
      <p:pic>
        <p:nvPicPr>
          <p:cNvPr id="89" name="Google Shape;89;p13" title="Screenshot 2026-09-15 at 9.07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096" y="1519623"/>
            <a:ext cx="3484549" cy="151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838200" y="13057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Problem Understanding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838200" y="25068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</a:rPr>
              <a:t>The problem: An AI pipeline may work today, but when it fails tomorrow, developers may not know what happened or why.</a:t>
            </a:r>
          </a:p>
          <a:p>
            <a:pPr>
              <a:buClr>
                <a:schemeClr val="tx1"/>
              </a:buClr>
            </a:pPr>
            <a:r>
              <a:rPr dirty="0">
                <a:solidFill>
                  <a:schemeClr val="tx1"/>
                </a:solidFill>
              </a:rPr>
              <a:t>Track focus: Build an AI system where every step, decision, and cost can be inspected.</a:t>
            </a:r>
          </a:p>
          <a:p>
            <a:pPr>
              <a:buClr>
                <a:schemeClr val="tx1"/>
              </a:buClr>
            </a:pPr>
            <a:r>
              <a:rPr dirty="0">
                <a:solidFill>
                  <a:schemeClr val="tx1"/>
                </a:solidFill>
              </a:rPr>
              <a:t>Required capabilities: Observability across LLM calls, tool calls, and pipeline steps, plus context engineering for long conversations.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838200" y="13057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Technical Architecture</a:t>
            </a:r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838200" y="25068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Clr>
                <a:schemeClr val="tx1"/>
              </a:buClr>
            </a:pPr>
            <a:r>
              <a:rPr dirty="0">
                <a:solidFill>
                  <a:schemeClr val="tx1"/>
                </a:solidFill>
              </a:rPr>
              <a:t>Tech stack: Next.js + React + Three.js + </a:t>
            </a:r>
            <a:r>
              <a:rPr dirty="0" err="1">
                <a:solidFill>
                  <a:schemeClr val="tx1"/>
                </a:solidFill>
              </a:rPr>
              <a:t>Groq</a:t>
            </a:r>
            <a:r>
              <a:rPr dirty="0">
                <a:solidFill>
                  <a:schemeClr val="tx1"/>
                </a:solidFill>
              </a:rPr>
              <a:t> / Puter.js</a:t>
            </a:r>
          </a:p>
          <a:p>
            <a:pPr>
              <a:buClr>
                <a:schemeClr val="tx1"/>
              </a:buClr>
            </a:pPr>
            <a:r>
              <a:rPr dirty="0">
                <a:solidFill>
                  <a:schemeClr val="tx1"/>
                </a:solidFill>
              </a:rPr>
              <a:t>Input: User prompt and conversation context</a:t>
            </a:r>
          </a:p>
          <a:p>
            <a:pPr>
              <a:buClr>
                <a:schemeClr val="tx1"/>
              </a:buClr>
            </a:pPr>
            <a:r>
              <a:rPr dirty="0">
                <a:solidFill>
                  <a:schemeClr val="tx1"/>
                </a:solidFill>
              </a:rPr>
              <a:t>AI pipeline: Prompt → context selection → LLM call → structured scene plan → Three.js rendering</a:t>
            </a:r>
          </a:p>
          <a:p>
            <a:pPr>
              <a:buClr>
                <a:schemeClr val="tx1"/>
              </a:buClr>
            </a:pPr>
            <a:r>
              <a:rPr dirty="0">
                <a:solidFill>
                  <a:schemeClr val="tx1"/>
                </a:solidFill>
              </a:rPr>
              <a:t>Observability: Log and trace each LLM call, tool call, step, decision, and cost for replay and debugging.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838200" y="13057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Proposed Solution</a:t>
            </a:r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1"/>
          </p:nvPr>
        </p:nvSpPr>
        <p:spPr>
          <a:xfrm>
            <a:off x="838200" y="25068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Clr>
                <a:schemeClr val="tx1"/>
              </a:buClr>
            </a:pPr>
            <a:r>
              <a:rPr dirty="0">
                <a:solidFill>
                  <a:schemeClr val="tx1"/>
                </a:solidFill>
              </a:rPr>
              <a:t>One-line solution: The Glass Game makes an AI-to-3D pipeline transparent, traceable, and controllable.</a:t>
            </a:r>
          </a:p>
          <a:p>
            <a:pPr>
              <a:buClr>
                <a:schemeClr val="tx1"/>
              </a:buClr>
            </a:pPr>
            <a:r>
              <a:rPr dirty="0">
                <a:solidFill>
                  <a:schemeClr val="tx1"/>
                </a:solidFill>
              </a:rPr>
              <a:t>How it solves the problem: Each generation is recorded as a sequence of inputs, decisions, model calls, tool calls, outputs, and costs.</a:t>
            </a:r>
          </a:p>
          <a:p>
            <a:pPr>
              <a:buClr>
                <a:schemeClr val="tx1"/>
              </a:buClr>
            </a:pPr>
            <a:r>
              <a:rPr dirty="0">
                <a:solidFill>
                  <a:schemeClr val="tx1"/>
                </a:solidFill>
              </a:rPr>
              <a:t>Context engineering: Long conversations are summarized, trimmed, or selectively passed to the model so the AI stays accurate and on topic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23">
          <a:extLst>
            <a:ext uri="{FF2B5EF4-FFF2-40B4-BE49-F238E27FC236}">
              <a16:creationId xmlns:a16="http://schemas.microsoft.com/office/drawing/2014/main" id="{1ED72826-3C68-38A4-9CF9-C2DF3707C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>
            <a:extLst>
              <a:ext uri="{FF2B5EF4-FFF2-40B4-BE49-F238E27FC236}">
                <a16:creationId xmlns:a16="http://schemas.microsoft.com/office/drawing/2014/main" id="{60CA3683-E6F0-2F89-1E9B-9850F6C1C6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3057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endParaRPr dirty="0"/>
          </a:p>
        </p:txBody>
      </p:sp>
      <p:sp>
        <p:nvSpPr>
          <p:cNvPr id="125" name="Google Shape;125;p19">
            <a:extLst>
              <a:ext uri="{FF2B5EF4-FFF2-40B4-BE49-F238E27FC236}">
                <a16:creationId xmlns:a16="http://schemas.microsoft.com/office/drawing/2014/main" id="{65F2DC75-42BD-B712-5D97-BC787D5CEF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25068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Barlow"/>
              <a:buChar char="•"/>
            </a:pPr>
            <a:endParaRPr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60F18A-3D81-E498-ADCF-DEB23A952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" y="1170432"/>
            <a:ext cx="10890751" cy="550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93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838200" y="13057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Innovation &amp; Novelty</a:t>
            </a:r>
          </a:p>
        </p:txBody>
      </p:sp>
      <p:sp>
        <p:nvSpPr>
          <p:cNvPr id="113" name="Google Shape;113;p17"/>
          <p:cNvSpPr txBox="1">
            <a:spLocks noGrp="1"/>
          </p:cNvSpPr>
          <p:nvPr>
            <p:ph type="body" idx="1"/>
          </p:nvPr>
        </p:nvSpPr>
        <p:spPr>
          <a:xfrm>
            <a:off x="838200" y="25068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Clr>
                <a:schemeClr val="tx1"/>
              </a:buClr>
            </a:pPr>
            <a:r>
              <a:rPr dirty="0">
                <a:solidFill>
                  <a:schemeClr val="tx1"/>
                </a:solidFill>
              </a:rPr>
              <a:t>Glass Box observability: Users and judges can inspect what happened at every stage instead of seeing only the final result.</a:t>
            </a:r>
          </a:p>
          <a:p>
            <a:pPr>
              <a:buClr>
                <a:schemeClr val="tx1"/>
              </a:buClr>
            </a:pPr>
            <a:r>
              <a:rPr dirty="0" err="1">
                <a:solidFill>
                  <a:schemeClr val="tx1"/>
                </a:solidFill>
              </a:rPr>
              <a:t>Replayable</a:t>
            </a:r>
            <a:r>
              <a:rPr dirty="0">
                <a:solidFill>
                  <a:schemeClr val="tx1"/>
                </a:solidFill>
              </a:rPr>
              <a:t> pipeline: A scene generation can be traced step-by-step to understand how the final output was produced.</a:t>
            </a:r>
          </a:p>
          <a:p>
            <a:pPr>
              <a:buClr>
                <a:schemeClr val="tx1"/>
              </a:buClr>
            </a:pPr>
            <a:r>
              <a:rPr dirty="0">
                <a:solidFill>
                  <a:schemeClr val="tx1"/>
                </a:solidFill>
              </a:rPr>
              <a:t>Context-aware AI: The system controls what information reaches the model instead of sending the entire conversation every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title"/>
          </p:nvPr>
        </p:nvSpPr>
        <p:spPr>
          <a:xfrm>
            <a:off x="838200" y="13057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Impact &amp; Benefits</a:t>
            </a:r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1"/>
          </p:nvPr>
        </p:nvSpPr>
        <p:spPr>
          <a:xfrm>
            <a:off x="838200" y="25068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dirty="0">
                <a:solidFill>
                  <a:schemeClr val="tx1"/>
                </a:solidFill>
              </a:rPr>
              <a:t>Debugging: Quickly identify which LLM call, tool call, context decision, or pipeline step caused an unexpected result.</a:t>
            </a:r>
          </a:p>
          <a:p>
            <a:pPr>
              <a:buClr>
                <a:schemeClr val="tx1"/>
              </a:buClr>
            </a:pPr>
            <a:r>
              <a:rPr dirty="0">
                <a:solidFill>
                  <a:schemeClr val="tx1"/>
                </a:solidFill>
              </a:rPr>
              <a:t>Transparency: Make AI behavior understandable instead of treating the pipeline as a black box.</a:t>
            </a:r>
          </a:p>
          <a:p>
            <a:pPr>
              <a:buClr>
                <a:schemeClr val="tx1"/>
              </a:buClr>
            </a:pPr>
            <a:r>
              <a:rPr dirty="0">
                <a:solidFill>
                  <a:schemeClr val="tx1"/>
                </a:solidFill>
              </a:rPr>
              <a:t>Cost awareness: Track model and tool usage at each step.</a:t>
            </a:r>
          </a:p>
          <a:p>
            <a:pPr>
              <a:buClr>
                <a:schemeClr val="tx1"/>
              </a:buClr>
            </a:pPr>
            <a:r>
              <a:rPr dirty="0">
                <a:solidFill>
                  <a:schemeClr val="tx1"/>
                </a:solidFill>
              </a:rPr>
              <a:t>Reliability: Context selection, summarization, and trimming help maintain accuracy during long conversations.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>
            <a:spLocks noGrp="1"/>
          </p:cNvSpPr>
          <p:nvPr>
            <p:ph type="title"/>
          </p:nvPr>
        </p:nvSpPr>
        <p:spPr>
          <a:xfrm>
            <a:off x="838200" y="13057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endParaRPr dirty="0"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838200" y="25068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Barlow"/>
              <a:buChar char="•"/>
            </a:pPr>
            <a:endParaRPr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498DC9-A1E4-0509-76E7-3E7C40401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05725"/>
            <a:ext cx="3634216" cy="5552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5B1B20-289B-66F5-302E-60020708E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7" y="1968575"/>
            <a:ext cx="6876411" cy="39876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</Words>
  <Application>Microsoft Office PowerPoint</Application>
  <PresentationFormat>Widescreen</PresentationFormat>
  <Paragraphs>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Bebas Neue</vt:lpstr>
      <vt:lpstr>Arial</vt:lpstr>
      <vt:lpstr>Barlow</vt:lpstr>
      <vt:lpstr>Poppins</vt:lpstr>
      <vt:lpstr>Rockwell</vt:lpstr>
      <vt:lpstr>Play</vt:lpstr>
      <vt:lpstr>Office Theme</vt:lpstr>
      <vt:lpstr>The Glass Game</vt:lpstr>
      <vt:lpstr>Problem Understanding</vt:lpstr>
      <vt:lpstr>Technical Architecture</vt:lpstr>
      <vt:lpstr>Proposed Solution</vt:lpstr>
      <vt:lpstr>PowerPoint Presentation</vt:lpstr>
      <vt:lpstr>Innovation &amp; Novelty</vt:lpstr>
      <vt:lpstr>Impact &amp; Benefits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teja</cp:lastModifiedBy>
  <cp:revision>1</cp:revision>
  <dcterms:modified xsi:type="dcterms:W3CDTF">2026-09-18T03:44:32Z</dcterms:modified>
</cp:coreProperties>
</file>